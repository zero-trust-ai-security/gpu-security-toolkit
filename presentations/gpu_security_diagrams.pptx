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Enterprise GPU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ADCFC"/>
                </a:solidFill>
              </a:defRPr>
            </a:pPr>
            <a:r>
              <a:t>Threat Model &amp; Defense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CADCFC"/>
                </a:solidFill>
              </a:defRPr>
            </a:pPr>
            <a:r>
              <a:t>NIST 800-53 | Zero Trust | MITRE ATT&amp;CK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GPU Attack Surface: 6 Critical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594360"/>
          </a:xfrm>
          <a:prstGeom prst="rect">
            <a:avLst/>
          </a:prstGeom>
          <a:solidFill>
            <a:srgbClr val="E8F4F8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98755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3C7E"/>
                </a:solidFill>
              </a:defRPr>
            </a:pPr>
            <a:r>
              <a:t>Application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8755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96167"/>
                </a:solidFill>
              </a:defRPr>
            </a:pPr>
            <a:r>
              <a:t>Malicious CUDA kernels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72768"/>
            <a:ext cx="6400800" cy="594360"/>
          </a:xfrm>
          <a:prstGeom prst="rect">
            <a:avLst/>
          </a:prstGeom>
          <a:solidFill>
            <a:srgbClr val="B3E0ED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3C7E"/>
                </a:solidFill>
              </a:defRPr>
            </a:pPr>
            <a:r>
              <a:t>Software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96167"/>
                </a:solidFill>
              </a:defRPr>
            </a:pPr>
            <a:r>
              <a:t>Driver vulnerabilities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31136"/>
            <a:ext cx="6400800" cy="594360"/>
          </a:xfrm>
          <a:prstGeom prst="rect">
            <a:avLst/>
          </a:prstGeom>
          <a:solidFill>
            <a:srgbClr val="7ECCE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30428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3C7E"/>
                </a:solidFill>
              </a:defRPr>
            </a:pPr>
            <a:r>
              <a:t>Firmware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0428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96167"/>
                </a:solidFill>
              </a:defRPr>
            </a:pPr>
            <a:r>
              <a:t>Firmware backdoors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89504"/>
            <a:ext cx="6400800" cy="594360"/>
          </a:xfrm>
          <a:prstGeom prst="rect">
            <a:avLst/>
          </a:prstGeom>
          <a:solidFill>
            <a:srgbClr val="4AB8D8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962656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3C7E"/>
                </a:solidFill>
              </a:defRPr>
            </a:pPr>
            <a:r>
              <a:t>Hardware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6265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96167"/>
                </a:solidFill>
              </a:defRPr>
            </a:pPr>
            <a:r>
              <a:t>Physical tampering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547872"/>
            <a:ext cx="6400800" cy="594360"/>
          </a:xfrm>
          <a:prstGeom prst="rect">
            <a:avLst/>
          </a:prstGeom>
          <a:solidFill>
            <a:srgbClr val="28A3C8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62102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3C7E"/>
                </a:solidFill>
              </a:defRPr>
            </a:pPr>
            <a:r>
              <a:t>Network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21024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96167"/>
                </a:solidFill>
              </a:defRPr>
            </a:pPr>
            <a:r>
              <a:t>GPU fabric attacks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206240"/>
            <a:ext cx="6400800" cy="594360"/>
          </a:xfrm>
          <a:prstGeom prst="rect">
            <a:avLst/>
          </a:prstGeom>
          <a:solidFill>
            <a:srgbClr val="1E8FA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2793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3C7E"/>
                </a:solidFill>
              </a:defRPr>
            </a:pPr>
            <a:r>
              <a:t>Physical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793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F96167"/>
                </a:solidFill>
              </a:defRPr>
            </a:pPr>
            <a:r>
              <a:t>Fault injection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Defense-in-Depth: 8-Layer Security Model</a:t>
            </a:r>
          </a:p>
        </p:txBody>
      </p:sp>
      <p:sp>
        <p:nvSpPr>
          <p:cNvPr id="3" name="Oval 2"/>
          <p:cNvSpPr/>
          <p:nvPr/>
        </p:nvSpPr>
        <p:spPr>
          <a:xfrm>
            <a:off x="5212080" y="1463040"/>
            <a:ext cx="228600" cy="228600"/>
          </a:xfrm>
          <a:prstGeom prst="ellipse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3C7E"/>
                </a:solidFill>
              </a:defRPr>
            </a:pPr>
            <a:r>
              <a:rPr b="1"/>
              <a:t>IAM: AC-2, IA-2</a:t>
            </a:r>
          </a:p>
        </p:txBody>
      </p:sp>
      <p:sp>
        <p:nvSpPr>
          <p:cNvPr id="5" name="Oval 4"/>
          <p:cNvSpPr/>
          <p:nvPr/>
        </p:nvSpPr>
        <p:spPr>
          <a:xfrm>
            <a:off x="5212080" y="1874520"/>
            <a:ext cx="228600" cy="228600"/>
          </a:xfrm>
          <a:prstGeom prst="ellipse">
            <a:avLst/>
          </a:prstGeom>
          <a:solidFill>
            <a:srgbClr val="B3E0ED"/>
          </a:solidFill>
          <a:ln>
            <a:solidFill>
              <a:srgbClr val="B3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3C7E"/>
                </a:solidFill>
              </a:defRPr>
            </a:pPr>
            <a:r>
              <a:rPr b="1"/>
              <a:t>Network: SC-7, SC-8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2286000"/>
            <a:ext cx="228600" cy="228600"/>
          </a:xfrm>
          <a:prstGeom prst="ellipse">
            <a:avLst/>
          </a:prstGeom>
          <a:solidFill>
            <a:srgbClr val="7ECCE3"/>
          </a:solidFill>
          <a:ln>
            <a:solidFill>
              <a:srgbClr val="7EC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2240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3C7E"/>
                </a:solidFill>
              </a:defRPr>
            </a:pPr>
            <a:r>
              <a:rPr b="1"/>
              <a:t>Host OS: SI-2, SI-4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2697480"/>
            <a:ext cx="228600" cy="228600"/>
          </a:xfrm>
          <a:prstGeom prst="ellipse">
            <a:avLst/>
          </a:prstGeom>
          <a:solidFill>
            <a:srgbClr val="4AB8D8"/>
          </a:solidFill>
          <a:ln>
            <a:solidFill>
              <a:srgbClr val="4A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3C7E"/>
                </a:solidFill>
              </a:defRPr>
            </a:pPr>
            <a:r>
              <a:rPr b="1"/>
              <a:t>Virtualization: SC-2, AC-3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3108960"/>
            <a:ext cx="228600" cy="228600"/>
          </a:xfrm>
          <a:prstGeom prst="ellipse">
            <a:avLst/>
          </a:prstGeom>
          <a:solidFill>
            <a:srgbClr val="28A3C8"/>
          </a:solidFill>
          <a:ln>
            <a:solidFill>
              <a:srgbClr val="28A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063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3C7E"/>
                </a:solidFill>
              </a:defRPr>
            </a:pPr>
            <a:r>
              <a:rPr b="1"/>
              <a:t>Hardware/FW: SI-7, CM-3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520440"/>
            <a:ext cx="228600" cy="228600"/>
          </a:xfrm>
          <a:prstGeom prst="ellipse">
            <a:avLst/>
          </a:prstGeom>
          <a:solidFill>
            <a:srgbClr val="1E8FAF"/>
          </a:solidFill>
          <a:ln>
            <a:solidFill>
              <a:srgbClr val="1E8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474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F3C7E"/>
                </a:solidFill>
              </a:defRPr>
            </a:pPr>
            <a:r>
              <a:rPr b="1"/>
              <a:t>Physical: PE-3, PE-6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GPU CORE</a:t>
            </a:r>
          </a:p>
          <a:p>
            <a:pPr algn="ctr">
              <a:defRPr sz="1400" b="1">
                <a:solidFill>
                  <a:srgbClr val="1E2761"/>
                </a:solidFill>
              </a:defRPr>
            </a:pPr>
            <a:r>
              <a:t>(Most Protected Asset)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Threat #1: Cryptomining Hijacking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1. Compromise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Credentials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097280"/>
            <a:ext cx="1463040" cy="640080"/>
          </a:xfrm>
          <a:prstGeom prst="rect">
            <a:avLst/>
          </a:prstGeom>
          <a:solidFill>
            <a:srgbClr val="F9A65B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1430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2. Submit Mining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Container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1463040" cy="640080"/>
          </a:xfrm>
          <a:prstGeom prst="rect">
            <a:avLst/>
          </a:prstGeom>
          <a:solidFill>
            <a:srgbClr val="F9C74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430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 Allocate GPU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1463040" cy="640080"/>
          </a:xfrm>
          <a:prstGeom prst="rect">
            <a:avLst/>
          </a:prstGeom>
          <a:solidFill>
            <a:srgbClr val="F9E44A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1430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4. Run Mining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097280"/>
            <a:ext cx="1463040" cy="640080"/>
          </a:xfrm>
          <a:prstGeom prst="rect">
            <a:avLst/>
          </a:prstGeom>
          <a:solidFill>
            <a:srgbClr val="90BE6D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14300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5. Exfiltrate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Crypto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F2D"/>
                </a:solidFill>
              </a:defRPr>
            </a:pPr>
            <a:r>
              <a:t>🛡️ Mitigations &amp; 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25603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3C7E"/>
                </a:solidFill>
              </a:defRPr>
            </a:pPr>
            <a:r>
              <a:t>AC-2: Strong Auth (MFA)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2491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→ Prevents initial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697479"/>
            <a:ext cx="1280160" cy="320040"/>
          </a:xfrm>
          <a:prstGeom prst="rect">
            <a:avLst/>
          </a:prstGeom>
          <a:solidFill>
            <a:srgbClr val="2C5F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24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&lt;1%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54680"/>
            <a:ext cx="25603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3C7E"/>
                </a:solidFill>
              </a:defRPr>
            </a:pPr>
            <a:r>
              <a:t>AC-3: Resource Quotas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278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→ Limits blast radius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200400"/>
            <a:ext cx="1280160" cy="320040"/>
          </a:xfrm>
          <a:prstGeom prst="rect">
            <a:avLst/>
          </a:prstGeom>
          <a:solidFill>
            <a:srgbClr val="2C5F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2278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0% 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25603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307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3C7E"/>
                </a:solidFill>
              </a:defRPr>
            </a:pPr>
            <a:r>
              <a:t>SI-4: Anomaly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730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→ Detects mining activity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703320"/>
            <a:ext cx="1280160" cy="320040"/>
          </a:xfrm>
          <a:prstGeom prst="rect">
            <a:avLst/>
          </a:prstGeom>
          <a:solidFill>
            <a:srgbClr val="2C5F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7307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1-2% impact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160520"/>
            <a:ext cx="256032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33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3C7E"/>
                </a:solidFill>
              </a:defRPr>
            </a:pPr>
            <a:r>
              <a:t>SC-7: Egress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2336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→ Blocks mining pools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206240"/>
            <a:ext cx="1280160" cy="320040"/>
          </a:xfrm>
          <a:prstGeom prst="rect">
            <a:avLst/>
          </a:prstGeom>
          <a:solidFill>
            <a:srgbClr val="2C5F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23367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&lt;1%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5F2D"/>
                </a:solidFill>
              </a:defRPr>
            </a:pPr>
            <a:r>
              <a:t>Total Performance Impact: &lt;3% | Risk Reduction: 66%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Performance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Access Control (MIG)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89888"/>
            <a:ext cx="16002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92040" y="1371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+3.5%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NVLink Encryption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737360"/>
            <a:ext cx="29718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190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66543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Memory Encryption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084831"/>
            <a:ext cx="13716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66543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+3.0%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1401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Audit Logging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432303"/>
            <a:ext cx="6858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2414015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+1.5%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Network Segmentation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79775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761487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127247"/>
            <a:ext cx="6858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31089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5643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Authentication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474719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456431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t>+0.5%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03903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Least Functionality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822191"/>
            <a:ext cx="1143000" cy="228600"/>
          </a:xfrm>
          <a:prstGeom prst="rect">
            <a:avLst/>
          </a:prstGeom>
          <a:solidFill>
            <a:srgbClr val="2C5F2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803903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C5F2D"/>
                </a:solidFill>
              </a:defRPr>
            </a:pPr>
            <a:r>
              <a:t>-2.5%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297680"/>
            <a:ext cx="2286000" cy="640080"/>
          </a:xfrm>
          <a:prstGeom prst="rect">
            <a:avLst/>
          </a:prstGeom>
          <a:solidFill>
            <a:srgbClr val="F9616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Worst Case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12-18%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297680"/>
            <a:ext cx="2286000" cy="640080"/>
          </a:xfrm>
          <a:prstGeom prst="rect">
            <a:avLst/>
          </a:prstGeom>
          <a:solidFill>
            <a:srgbClr val="F9E7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3434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F3C7E"/>
                </a:solidFill>
              </a:defRPr>
            </a:pPr>
            <a:r>
              <a:t>Typical Prod</a:t>
            </a:r>
          </a:p>
          <a:p>
            <a:pPr algn="ctr">
              <a:defRPr sz="1600" b="1">
                <a:solidFill>
                  <a:srgbClr val="2F3C7E"/>
                </a:solidFill>
              </a:defRPr>
            </a:pPr>
            <a:r>
              <a:t>5-10%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4297680"/>
            <a:ext cx="2286000" cy="640080"/>
          </a:xfrm>
          <a:prstGeom prst="rect">
            <a:avLst/>
          </a:prstGeom>
          <a:solidFill>
            <a:srgbClr val="2C5F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3434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Optimized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3-6%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Security Framework Applicability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828800" cy="4572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914400"/>
            <a:ext cx="1828800" cy="4572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960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14400"/>
            <a:ext cx="1645920" cy="4572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960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GPU Relevance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14400"/>
            <a:ext cx="2560320" cy="4572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960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When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08176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NIST 800-53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37160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408176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General controls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40817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371600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40817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Federal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71907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5564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Zero Trust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171907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1755648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71907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7556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719072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1755648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Best practice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066543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103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MITRE ATT&amp;CK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066543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21031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Threat intel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066543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21031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066543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210312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Detection/Response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414015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45059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NIST AI RMF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2414015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245059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AI risks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414015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450591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414015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2450591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AI/ML workloads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761487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798063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PCI DSS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2761487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2798063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Payments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2761487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2798063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Medium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2761487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2798063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Financial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3108959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3145535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HIPAA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3108959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14600" y="3145535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Healthcare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3108959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3145535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3108959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9320" y="3145535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Protected health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3456431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3493007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FedRAMP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3456431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14600" y="3493007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Federal cloud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97680" y="3456431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3493007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3456431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9320" y="3493007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US federal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803903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840479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CMMC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0" y="3803903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14600" y="3840479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Defense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97680" y="3803903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43400" y="3840479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High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3803903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89320" y="3840479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DoD contracts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4151375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418795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3C7E"/>
                </a:solidFill>
              </a:defRPr>
            </a:pPr>
            <a:r>
              <a:t>ISO 27001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68880" y="4151375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14600" y="418795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ISMS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97680" y="4151375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43400" y="4187951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Medium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0" y="4151375"/>
            <a:ext cx="2560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89320" y="4187951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F3C7E"/>
                </a:solidFill>
              </a:defRPr>
            </a:pPr>
            <a:r>
              <a:t>International cert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Threat Risk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371600" cy="731520"/>
          </a:xfrm>
          <a:prstGeom prst="rect">
            <a:avLst/>
          </a:prstGeom>
          <a:solidFill>
            <a:srgbClr val="E6F7E6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2560320"/>
            <a:ext cx="1371600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2560320"/>
            <a:ext cx="1371600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1371600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1371600" cy="731520"/>
          </a:xfrm>
          <a:prstGeom prst="rect">
            <a:avLst/>
          </a:prstGeom>
          <a:solidFill>
            <a:srgbClr val="FFA500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828800"/>
            <a:ext cx="1371600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097280"/>
            <a:ext cx="1371600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97280"/>
            <a:ext cx="1371600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097280"/>
            <a:ext cx="1371600" cy="731520"/>
          </a:xfrm>
          <a:prstGeom prst="rect">
            <a:avLst/>
          </a:prstGeom>
          <a:solidFill>
            <a:srgbClr val="8B0000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383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IMPACT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554480"/>
            <a:ext cx="274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</a:defRPr>
            </a:pPr>
            <a:r>
              <a:t>L</a:t>
            </a:r>
          </a:p>
          <a:p>
            <a:r>
              <a:t>I</a:t>
            </a:r>
          </a:p>
          <a:p>
            <a:r>
              <a:t>K</a:t>
            </a:r>
          </a:p>
          <a:p>
            <a:r>
              <a:t>E</a:t>
            </a:r>
          </a:p>
          <a:p>
            <a:r>
              <a:t>L</a:t>
            </a:r>
          </a:p>
          <a:p>
            <a:r>
              <a:t>I</a:t>
            </a:r>
          </a:p>
          <a:p>
            <a:r>
              <a:t>H</a:t>
            </a:r>
          </a:p>
          <a:p>
            <a:r>
              <a:t>O</a:t>
            </a:r>
          </a:p>
          <a:p>
            <a:r>
              <a:t>O</a:t>
            </a:r>
          </a:p>
          <a:p>
            <a:r>
              <a:t>D</a:t>
            </a:r>
          </a:p>
          <a:p>
            <a: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Threats Plotted: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1554480"/>
            <a:ext cx="109728" cy="109728"/>
          </a:xfrm>
          <a:prstGeom prst="ellipse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50876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Cryptomining Hijacking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1828800"/>
            <a:ext cx="109728" cy="109728"/>
          </a:xfrm>
          <a:prstGeom prst="ellipse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78308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Model Theft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2103120"/>
            <a:ext cx="109728" cy="109728"/>
          </a:xfrm>
          <a:prstGeom prst="ellipse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05740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Container Escape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0" y="2377439"/>
            <a:ext cx="109728" cy="109728"/>
          </a:xfrm>
          <a:prstGeom prst="ellipse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331720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Firmware Backdoor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0" y="2651759"/>
            <a:ext cx="109728" cy="109728"/>
          </a:xfrm>
          <a:prstGeom prst="ellipse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2606039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DoS Attack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2926079"/>
            <a:ext cx="109728" cy="109728"/>
          </a:xfrm>
          <a:prstGeom prst="ellipse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880359"/>
            <a:ext cx="3017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C7E"/>
                </a:solidFill>
              </a:defRPr>
            </a:pPr>
            <a:r>
              <a:t>Driver Privilege Escalation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200400"/>
            <a:ext cx="3474720" cy="109728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32918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5F2D"/>
                </a:solidFill>
              </a:defRPr>
            </a:pPr>
            <a:r>
              <a:t>Post-Mitigation:</a:t>
            </a:r>
          </a:p>
          <a:p>
            <a:pPr>
              <a:defRPr sz="1000">
                <a:solidFill>
                  <a:srgbClr val="2C5F2D"/>
                </a:solidFill>
              </a:defRPr>
            </a:pPr>
            <a:r>
              <a:t>• 66% risk reduction</a:t>
            </a:r>
          </a:p>
          <a:p>
            <a:pPr>
              <a:defRPr sz="1000">
                <a:solidFill>
                  <a:srgbClr val="2C5F2D"/>
                </a:solidFill>
              </a:defRPr>
            </a:pPr>
            <a:r>
              <a:t>• Most threats → LOW</a:t>
            </a:r>
          </a:p>
          <a:p>
            <a:pPr>
              <a:defRPr sz="1000">
                <a:solidFill>
                  <a:srgbClr val="2C5F2D"/>
                </a:solidFill>
              </a:defRPr>
            </a:pPr>
            <a:r>
              <a:t>• 3-10% perf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Implementation Roadmap (16 Weeks)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B3E0ED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1: Foundation (Weeks 1-4)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43000"/>
            <a:ext cx="1371600" cy="320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17043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F3C7E"/>
                </a:solidFill>
              </a:defRPr>
            </a:pPr>
            <a:r>
              <a:t>~2%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Audit logging • Baseline configs • Vuln scanning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7ECCE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2: Access Controls (Weeks 5-8)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057400"/>
            <a:ext cx="1371600" cy="320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8483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F3C7E"/>
                </a:solidFill>
              </a:defRPr>
            </a:pPr>
            <a:r>
              <a:t>+3-5%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MIG deployment • IAM integration • RBAC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7863840" cy="777240"/>
          </a:xfrm>
          <a:prstGeom prst="rect">
            <a:avLst/>
          </a:prstGeom>
          <a:solidFill>
            <a:srgbClr val="4AB8D8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3: Encryption &amp; Monitoring (Weeks 9-12)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971800"/>
            <a:ext cx="1371600" cy="320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F3C7E"/>
                </a:solidFill>
              </a:defRPr>
            </a:pPr>
            <a:r>
              <a:t>+5-8%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NVLink encryption • SIEM integration • Anomaly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solidFill>
            <a:srgbClr val="28A3C8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136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Phase 4: Zero Trust (Weeks 13-16)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886200"/>
            <a:ext cx="1371600" cy="320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91363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F3C7E"/>
                </a:solidFill>
              </a:defRPr>
            </a:pPr>
            <a:r>
              <a:t>+2-3%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Continuous verification • Microsegmentation • Full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5F2D"/>
                </a:solidFill>
              </a:defRPr>
            </a:pPr>
            <a:r>
              <a:t>✓ All NIST 800-53 controls  ✓ &lt;10% perf impact  ✓ 66% risk reduction  ✓ Zero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